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70" r:id="rId5"/>
    <p:sldId id="271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4D72A-ABCC-4E0C-8513-F8CD79C92EDC}" v="307" dt="2026-01-12T08:46:40.112"/>
    <p1510:client id="{A0FE9BE8-D9BB-44EF-832E-B6F16F9E9B5D}" v="110" dt="2026-01-12T08:58:35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Retrieval-Augmented Generation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Course: Introduction to RAG for Beginners</a:t>
            </a:r>
          </a:p>
          <a:p>
            <a:r>
              <a:rPr dirty="0"/>
              <a:t>Goal: Understand how modern AI </a:t>
            </a:r>
            <a:r>
              <a:rPr lang="en-US" dirty="0"/>
              <a:t>analyzes enterprise documents and answers</a:t>
            </a:r>
            <a:r>
              <a:rPr dirty="0"/>
              <a:t> </a:t>
            </a:r>
            <a:r>
              <a:rPr lang="en-US" dirty="0"/>
              <a:t>questions</a:t>
            </a:r>
          </a:p>
          <a:p>
            <a:r>
              <a:rPr lang="en-US" dirty="0"/>
              <a:t>Prerequisites: No</a:t>
            </a:r>
            <a:r>
              <a:rPr dirty="0"/>
              <a:t> coding required – focus on concepts and system behavior</a:t>
            </a: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RAG = Retrieval + Generation</a:t>
            </a:r>
          </a:p>
          <a:p>
            <a:r>
              <a:rPr dirty="0"/>
              <a:t>Retrieve relevant information </a:t>
            </a:r>
            <a:r>
              <a:rPr lang="en-US" dirty="0"/>
              <a:t>from documents first</a:t>
            </a:r>
            <a:endParaRPr dirty="0"/>
          </a:p>
          <a:p>
            <a:r>
              <a:rPr dirty="0"/>
              <a:t>Generate </a:t>
            </a:r>
            <a:r>
              <a:rPr lang="en-US" dirty="0"/>
              <a:t>augmented answers</a:t>
            </a:r>
            <a:r>
              <a:rPr dirty="0"/>
              <a:t> using retrieved context only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RAG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LLMs </a:t>
            </a:r>
            <a:r>
              <a:rPr lang="en-US" dirty="0"/>
              <a:t>memory does not include</a:t>
            </a:r>
            <a:r>
              <a:rPr dirty="0"/>
              <a:t> your private documents</a:t>
            </a:r>
          </a:p>
          <a:p>
            <a:r>
              <a:rPr dirty="0"/>
              <a:t>LLMs may hallucinate</a:t>
            </a:r>
            <a:r>
              <a:rPr lang="en-US" dirty="0"/>
              <a:t> in</a:t>
            </a:r>
            <a:r>
              <a:rPr dirty="0"/>
              <a:t> </a:t>
            </a:r>
            <a:r>
              <a:rPr lang="en-US" dirty="0"/>
              <a:t>confidence</a:t>
            </a:r>
            <a:r>
              <a:rPr dirty="0"/>
              <a:t> but </a:t>
            </a:r>
            <a:r>
              <a:rPr lang="en-US" dirty="0"/>
              <a:t>give incorrect</a:t>
            </a:r>
            <a:r>
              <a:rPr dirty="0"/>
              <a:t> answers</a:t>
            </a:r>
            <a:endParaRPr>
              <a:ea typeface="Calibri"/>
              <a:cs typeface="Calibri"/>
            </a:endParaRPr>
          </a:p>
          <a:p>
            <a:r>
              <a:rPr dirty="0"/>
              <a:t>RAG grounds AI answers in real, retrievable data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1BAB-B504-D1F7-16F0-B37146A1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Enterprise Use Case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C2E4-CD0D-143D-0EAA-54C82B8FC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Regulated Knowledge Assistant (Risk, Compliance, legal, finance &amp; other corporate functions)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What RAG enables</a:t>
            </a:r>
          </a:p>
          <a:p>
            <a:pPr lvl="1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AI answers </a:t>
            </a:r>
            <a:r>
              <a:rPr lang="en-US" b="1" dirty="0">
                <a:ea typeface="+mn-lt"/>
                <a:cs typeface="+mn-lt"/>
              </a:rPr>
              <a:t>only from approved internal documents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Every answer includes </a:t>
            </a:r>
            <a:r>
              <a:rPr lang="en-US" b="1" dirty="0">
                <a:ea typeface="+mn-lt"/>
                <a:cs typeface="+mn-lt"/>
              </a:rPr>
              <a:t>citations</a:t>
            </a:r>
            <a:r>
              <a:rPr lang="en-US" dirty="0">
                <a:ea typeface="+mn-lt"/>
                <a:cs typeface="+mn-lt"/>
              </a:rPr>
              <a:t> (page, policy, clause)</a:t>
            </a:r>
          </a:p>
          <a:p>
            <a:pPr lvl="1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Governance controls who can ask what</a:t>
            </a:r>
          </a:p>
          <a:p>
            <a:r>
              <a:rPr lang="en-US" dirty="0"/>
              <a:t>Business value</a:t>
            </a:r>
          </a:p>
          <a:p>
            <a:pPr lvl="1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Faster regulatory responses</a:t>
            </a:r>
          </a:p>
          <a:p>
            <a:pPr lvl="1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Reduced legal/compliance risk</a:t>
            </a:r>
          </a:p>
          <a:p>
            <a:pPr lvl="1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Lower dependency on SMEs for routine queries</a:t>
            </a:r>
          </a:p>
          <a:p>
            <a:pPr lvl="1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Executive confidence in AI-assisted decisions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97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92C2-09A5-C977-2AAD-861A53CB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Enterprise Use Case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4237F-C19F-2622-8D7F-BB5C38CED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Enterprise Reporting &amp; Explainability Layer (finance, strategy &amp; Operations)</a:t>
            </a:r>
          </a:p>
          <a:p>
            <a:r>
              <a:rPr lang="en-US" dirty="0"/>
              <a:t>What RAG enables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Natural-language explanations grounded in:</a:t>
            </a:r>
            <a:endParaRPr lang="en-US" dirty="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management commentary</a:t>
            </a:r>
            <a:endParaRPr lang="en-US" dirty="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board papers</a:t>
            </a:r>
            <a:endParaRPr lang="en-US" dirty="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analyst notes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Answers tied directly to </a:t>
            </a:r>
            <a:r>
              <a:rPr lang="en-US" b="1" dirty="0">
                <a:ea typeface="+mn-lt"/>
                <a:cs typeface="+mn-lt"/>
              </a:rPr>
              <a:t>source documents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Consistent interpretation across teams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Business value</a:t>
            </a:r>
          </a:p>
          <a:p>
            <a:pPr lvl="1"/>
            <a:r>
              <a:rPr lang="en-US" dirty="0">
                <a:ea typeface="+mn-lt"/>
                <a:cs typeface="+mn-lt"/>
              </a:rPr>
              <a:t>Faster executive insight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Better strategic decisions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Reduced misinterpretation of numbers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AI as an </a:t>
            </a:r>
            <a:r>
              <a:rPr lang="en-US" i="1" dirty="0">
                <a:ea typeface="+mn-lt"/>
                <a:cs typeface="+mn-lt"/>
              </a:rPr>
              <a:t>explainability layer</a:t>
            </a:r>
            <a:r>
              <a:rPr lang="en-US" dirty="0">
                <a:ea typeface="+mn-lt"/>
                <a:cs typeface="+mn-lt"/>
              </a:rPr>
              <a:t> over enterprise data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330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624C-1003-66D5-901E-57DCE64E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Enterprise Use Case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98BE-2BAB-C5BC-EF3D-8CA808E56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Institutional Memory &amp; Decision Intelligence (Management, Transformation, M&amp;A)</a:t>
            </a:r>
          </a:p>
          <a:p>
            <a:r>
              <a:rPr lang="en-US" dirty="0"/>
              <a:t>What RAG enables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Ask: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“Why did we choose option A in 2021?”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 “What risks were identified?”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Answers grounded in </a:t>
            </a:r>
            <a:r>
              <a:rPr lang="en-US" b="1" dirty="0">
                <a:ea typeface="+mn-lt"/>
                <a:cs typeface="+mn-lt"/>
              </a:rPr>
              <a:t>original decision artifacts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AI becomes a </a:t>
            </a:r>
            <a:r>
              <a:rPr lang="en-US" b="1" dirty="0">
                <a:ea typeface="+mn-lt"/>
                <a:cs typeface="+mn-lt"/>
              </a:rPr>
              <a:t>corporate memory system</a:t>
            </a:r>
            <a:endParaRPr lang="en-US">
              <a:ea typeface="Calibri"/>
              <a:cs typeface="Calibri"/>
            </a:endParaRPr>
          </a:p>
          <a:p>
            <a:r>
              <a:rPr lang="en-US" dirty="0"/>
              <a:t>Business value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Better long-term decision quality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Faster executive onboarding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Reduced strategic drift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Preservation of organizational knowledge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440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→ Indexing → Vector Database</a:t>
            </a:r>
          </a:p>
          <a:p>
            <a:r>
              <a:t>User Question → Retrieval → LLM Answer</a:t>
            </a:r>
          </a:p>
          <a:p>
            <a:r>
              <a:t>Two distinct phases: Indexing and Querying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Indexing Phase (index.py)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offline or when documents change</a:t>
            </a:r>
          </a:p>
          <a:p>
            <a:r>
              <a:t>Reads documents and extracts text</a:t>
            </a:r>
          </a:p>
          <a:p>
            <a:r>
              <a:t>Splits text into chunks</a:t>
            </a:r>
          </a:p>
          <a:p>
            <a:r>
              <a:t>Creates embeddings and stores them in a vector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Chunking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have input size limits</a:t>
            </a:r>
          </a:p>
          <a:p>
            <a:r>
              <a:t>Smaller chunks improve retrieval accuracy</a:t>
            </a:r>
          </a:p>
          <a:p>
            <a:r>
              <a:t>Industry systems retrieve chunks, not full documents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Embeddings convert text into numbers</a:t>
            </a:r>
          </a:p>
          <a:p>
            <a:r>
              <a:t>Similar meanings produce similar vectors</a:t>
            </a:r>
          </a:p>
          <a:p>
            <a:r>
              <a:t>Enables semantic (meaning-based)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embeddings and metadata</a:t>
            </a:r>
          </a:p>
          <a:p>
            <a:r>
              <a:t>Enable fast similarity search</a:t>
            </a:r>
          </a:p>
          <a:p>
            <a:r>
              <a:t>Examples: Chroma, Pinecone, Weaviate, pgvector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Querying Phase (query.py)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every time a user asks a question</a:t>
            </a:r>
          </a:p>
          <a:p>
            <a:r>
              <a:t>Embeds the question</a:t>
            </a:r>
          </a:p>
          <a:p>
            <a:r>
              <a:t>Retrieves relevant chunks</a:t>
            </a:r>
          </a:p>
          <a:p>
            <a:r>
              <a:t>Uses an LLM to generate a grounded answer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Retrieval Comes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can only answer using retrieved data</a:t>
            </a:r>
          </a:p>
          <a:p>
            <a:r>
              <a:t>Better retrieval = better answers</a:t>
            </a:r>
          </a:p>
          <a:p>
            <a:r>
              <a:t>Retrieval quality matters more than model size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and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Metadata tracks source and page number</a:t>
            </a:r>
          </a:p>
          <a:p>
            <a:r>
              <a:t>Enables citations and trust</a:t>
            </a:r>
          </a:p>
          <a:p>
            <a:r>
              <a:t>Required for enterprise and compliance use cases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Best Practices in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indexing and querying</a:t>
            </a:r>
          </a:p>
          <a:p>
            <a:r>
              <a:t>Idempotent indexing (safe re-runs)</a:t>
            </a:r>
          </a:p>
          <a:p>
            <a:r>
              <a:t>Persistent vector databases</a:t>
            </a:r>
          </a:p>
          <a:p>
            <a:r>
              <a:t>Grounded answer generation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Built Conceptually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real-world RAG architecture</a:t>
            </a:r>
          </a:p>
          <a:p>
            <a:r>
              <a:t>A system that avoids hallucinations</a:t>
            </a:r>
          </a:p>
          <a:p>
            <a:r>
              <a:t>A foundation used in enterprise AI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Visualization embeddings (optional function)</a:t>
            </a:r>
            <a:endParaRPr dirty="0"/>
          </a:p>
          <a:p>
            <a:r>
              <a:rPr lang="en-US" dirty="0">
                <a:ea typeface="Calibri"/>
                <a:cs typeface="Calibri"/>
              </a:rPr>
              <a:t>Build use cases for governed RAG capabilities on private data platform</a:t>
            </a:r>
          </a:p>
          <a:p>
            <a:r>
              <a:rPr dirty="0"/>
              <a:t>Reranking and evaluation</a:t>
            </a:r>
            <a:endParaRPr dirty="0">
              <a:ea typeface="Calibri"/>
              <a:cs typeface="Calibri"/>
            </a:endParaRPr>
          </a:p>
          <a:p>
            <a:r>
              <a:rPr dirty="0"/>
              <a:t>Deploy as an API service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Retrieval-Augmented Generation (RAG)</vt:lpstr>
      <vt:lpstr>What is RAG?</vt:lpstr>
      <vt:lpstr>Why RAG Exists</vt:lpstr>
      <vt:lpstr>Enterprise Use Case 1</vt:lpstr>
      <vt:lpstr>Enterprise Use Case 2</vt:lpstr>
      <vt:lpstr>Enterprise Use Case 3</vt:lpstr>
      <vt:lpstr>High-Level RAG Architecture</vt:lpstr>
      <vt:lpstr>Indexing Phase (index.py)</vt:lpstr>
      <vt:lpstr>Why Chunking Matters</vt:lpstr>
      <vt:lpstr>Embeddings Explained</vt:lpstr>
      <vt:lpstr>Vector Databases</vt:lpstr>
      <vt:lpstr>Querying Phase (query.py)</vt:lpstr>
      <vt:lpstr>Why Retrieval Comes First</vt:lpstr>
      <vt:lpstr>Metadata and Citations</vt:lpstr>
      <vt:lpstr>Industry Best Practices in RAG</vt:lpstr>
      <vt:lpstr>What You Built Conceptually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155</cp:revision>
  <dcterms:created xsi:type="dcterms:W3CDTF">2013-01-27T09:14:16Z</dcterms:created>
  <dcterms:modified xsi:type="dcterms:W3CDTF">2026-01-12T08:58:36Z</dcterms:modified>
  <cp:category/>
</cp:coreProperties>
</file>